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teardown of Rosebud, the leading conversational AI journaling app, built to find the gaps Spilr can exploit. Emphasis on Rosebud: its loved features, its AI, and the anecdotal friction that drives churn.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deck in one slide: Rosebud is the leader, its moat is also its weakness, and Spilr wins on privacy + precision if it closes three feature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on the competitor: well-funded, multi-platform, premium-priced, running frontier models, and leaning on strong self-reported wellness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Rosebud’s AI is a conversational, framework-aware system with long-term memory and voice. This is the surface Spilr is competing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strengths Spilr has to respect and, where sensible, match. Voice/call mode, Ask, and workbooks are the ones Spilr currently lacks.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defensible core is not any one feature — it is the stack. Spilr already has cross-time memory infrastructure (Self Model + memory digest); the gap is making it as legible and as good.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emphasis of the deck: the friction points, treated one per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Fault line 1: usage caps + pricing. Spilr is local-first with graceful offline fallbacks, so it structurally cannot do the "come back tomorrow"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Fault line 2: the data-training clause with no opt-out. This is where privacy-first rivals (Reflection, Day One) have carved out share, and Spilr already has a stronger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Fault line 3: sycophancy + generic drift + memory imperfection. This maps directly onto Spilr's anti-generic engine, which is its strongest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Fault line 4: format rigidity. Spilr's multi-surface capture (blank page + timed + chat) is a direct answer, though Spilr must be careful its own surface sprawl doesn't become the mirror-image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One-glance summary the audience can screenshot: Rosebud pain on the left, Spilr counter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strengths already exist in the codebase — the job is largely to market them, not build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list of what Rosebud does that Spilr does not — the build list for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action plan. P0 is mostly positioning + cleanup of existing strengths; P1 is the real feature build to match Rosebud; P2 is strategic.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positioning takeaway: three promises to own, and exactly who to poach from Rosebud.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for the teardown, including the competitor codebase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645920"/>
            <a:ext cx="5120640" cy="5120640"/>
          </a:xfrm>
          <a:prstGeom prst="ellipse">
            <a:avLst/>
          </a:prstGeom>
          <a:solidFill>
            <a:srgbClr val="3A2531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640080"/>
            <a:ext cx="2926080" cy="2926080"/>
          </a:xfrm>
          <a:prstGeom prst="ellipse">
            <a:avLst/>
          </a:prstGeom>
          <a:solidFill>
            <a:srgbClr val="C2465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5720"/>
            <a:ext cx="1371600" cy="1371600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51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TEARDOWN  ·  SEPTEMBER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50876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Rosebud, Dismantled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category leader gets right, where it bleeds users —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fault lines Spilr can turn into a wedge.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2585923" cy="420624"/>
          </a:xfrm>
          <a:prstGeom prst="roundRect">
            <a:avLst>
              <a:gd name="adj" fmla="val 26087"/>
            </a:avLst>
          </a:prstGeom>
          <a:solidFill>
            <a:srgbClr val="2A2138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4892040"/>
            <a:ext cx="25859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$6M-funded category leader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7171" y="4892040"/>
            <a:ext cx="1958645" cy="420624"/>
          </a:xfrm>
          <a:prstGeom prst="roundRect">
            <a:avLst>
              <a:gd name="adj" fmla="val 26087"/>
            </a:avLst>
          </a:prstGeom>
          <a:solidFill>
            <a:srgbClr val="2A2138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27171" y="4892040"/>
            <a:ext cx="19586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Android · Web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86984" y="4892040"/>
            <a:ext cx="1510589" cy="420624"/>
          </a:xfrm>
          <a:prstGeom prst="roundRect">
            <a:avLst>
              <a:gd name="adj" fmla="val 26087"/>
            </a:avLst>
          </a:prstGeom>
          <a:solidFill>
            <a:srgbClr val="2A2138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586984" y="4892040"/>
            <a:ext cx="15105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$12.99 / month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Spilr (ninety)  ·  Satakshi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IN THREE LINES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9584" cy="3246120"/>
          </a:xfrm>
          <a:prstGeom prst="roundRect">
            <a:avLst>
              <a:gd name="adj" fmla="val 3380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84832"/>
            <a:ext cx="658368" cy="65836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8803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Rosebud won the category</a:t>
            </a:r>
            <a:endParaRPr lang="en-US" sz="18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675888"/>
            <a:ext cx="2962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set the bar with conversational AI + long-term memory + therapist-designed content, and $6M behind it. But by design it is warm, always-on, and expensive.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529584" cy="3246120"/>
          </a:xfrm>
          <a:prstGeom prst="roundRect">
            <a:avLst>
              <a:gd name="adj" fmla="val 3380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2084832"/>
            <a:ext cx="658368" cy="658368"/>
          </a:xfrm>
          <a:prstGeom prst="ellipse">
            <a:avLst/>
          </a:prstGeom>
          <a:solidFill>
            <a:srgbClr val="E095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1728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8803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strengths are also its fault lines</a:t>
            </a:r>
            <a:endParaRPr lang="en-US" sz="185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675888"/>
            <a:ext cx="2962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caps, a data-training paywall, AI that goes generic over time, and a chat-only format. These are exactly where a local-first, anti-generic, correctable engine wins.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9584" cy="3246120"/>
          </a:xfrm>
          <a:prstGeom prst="roundRect">
            <a:avLst>
              <a:gd name="adj" fmla="val 3380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2084832"/>
            <a:ext cx="658368" cy="658368"/>
          </a:xfrm>
          <a:prstGeom prst="ellipse">
            <a:avLst/>
          </a:prstGeom>
          <a:solidFill>
            <a:srgbClr val="8FBB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30768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8803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Leverage only converts if 3 gaps close</a:t>
            </a:r>
            <a:endParaRPr lang="en-US" sz="185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3675888"/>
            <a:ext cx="2962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call mode, an on-demand "ask about myself," and legible therapeutic framing — added without turning Spilr into the thing users are leaving.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10908792" cy="868680"/>
          </a:xfrm>
          <a:prstGeom prst="roundRect">
            <a:avLst>
              <a:gd name="adj" fmla="val 12632"/>
            </a:avLst>
          </a:prstGeom>
          <a:solidFill>
            <a:srgbClr val="342A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5412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53492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Rosebud maximizes engagement. Spilr should maximize being right about you — privately.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OPPONENT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Rosebud at a glance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interactive, conversational AI journal — “write, analyze, grow.” The AI ("Rose") asks questions,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conversation, and works through problems with you. Chat is the interface, not the page.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67004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63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45643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— Bessemer, Alexis Ohanian, Tim Ferriss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56432" y="2468880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12464" y="267004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9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712464" y="345643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as the AI journaling 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2784" y="2468880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28816" y="267004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B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528816" y="345643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— iOS, Android, web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9136" y="2468880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45168" y="267004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63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$12.99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345168" y="345643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(Bloom) · one of the priciest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342A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40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FRONTIER MODELS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8920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is GPT / ChatGPT + Anthropic Claude, wrapped in proprietary prompt-engineering and data collection.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create multiple AI personas — custom instructions, model, and voice.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53912" y="42976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342A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28232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IT ADVERTISES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48920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Self-reported: depression −64%, anxiety −60% after one week of use.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marketing metrics — self-reported, not a clinical trial.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Rosebud uses AI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676656"/>
          </a:xfrm>
          <a:prstGeom prst="roundRect">
            <a:avLst>
              <a:gd name="adj" fmla="val 16216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83080"/>
            <a:ext cx="493776" cy="493776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73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099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guidance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709928"/>
            <a:ext cx="670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chat, one question at a time — the AI leads you to your own conclusion through questions + affirmation.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78024"/>
            <a:ext cx="10908792" cy="676656"/>
          </a:xfrm>
          <a:prstGeom prst="roundRect">
            <a:avLst>
              <a:gd name="adj" fmla="val 16216"/>
            </a:avLst>
          </a:prstGeom>
          <a:solidFill>
            <a:srgbClr val="342A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569464"/>
            <a:ext cx="493776" cy="493776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5603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49631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Therapeutic frameworks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96312"/>
            <a:ext cx="670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 reframing, ACT acceptance, and IFS "parts work" — selected automatically by what you write about.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264408"/>
            <a:ext cx="10908792" cy="676656"/>
          </a:xfrm>
          <a:prstGeom prst="roundRect">
            <a:avLst>
              <a:gd name="adj" fmla="val 16216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355848"/>
            <a:ext cx="493776" cy="493776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33467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28269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memory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282696"/>
            <a:ext cx="670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across entries and can surface a behavioral pattern from three months ago that connects to today.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050792"/>
            <a:ext cx="10908792" cy="676656"/>
          </a:xfrm>
          <a:prstGeom prst="roundRect">
            <a:avLst>
              <a:gd name="adj" fmla="val 16216"/>
            </a:avLst>
          </a:prstGeom>
          <a:solidFill>
            <a:srgbClr val="342A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142232"/>
            <a:ext cx="493776" cy="493776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41330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reflection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069080"/>
            <a:ext cx="670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is summarized and mirrored back with key insights — "your own wisdom, reflected."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837176"/>
            <a:ext cx="10908792" cy="676656"/>
          </a:xfrm>
          <a:prstGeom prst="roundRect">
            <a:avLst>
              <a:gd name="adj" fmla="val 16216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4928616"/>
            <a:ext cx="493776" cy="493776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49194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8554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questions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855464"/>
            <a:ext cx="670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User-reported hit rate ≈ 70% insightful / 30% surface-level — the depth is real but inconsistent.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" y="5623560"/>
            <a:ext cx="10908792" cy="676656"/>
          </a:xfrm>
          <a:prstGeom prst="roundRect">
            <a:avLst>
              <a:gd name="adj" fmla="val 16216"/>
            </a:avLst>
          </a:prstGeom>
          <a:solidFill>
            <a:srgbClr val="342A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" y="5715000"/>
            <a:ext cx="493776" cy="493776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" y="5705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56418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Personas + voice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4617720" y="5641848"/>
            <a:ext cx="670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custom AI personas; write or speak; hands-free voice mode across 20 languages.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PEOPLE PAYING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features users genuinely love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9584" cy="2121408"/>
          </a:xfrm>
          <a:prstGeom prst="roundRect">
            <a:avLst>
              <a:gd name="adj" fmla="val 5172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208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533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0604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reflection loop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81528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prompts tuned to your history, entries reflected back, pattern recognition across weeks — it feels like it remembers you.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529584" cy="2121408"/>
          </a:xfrm>
          <a:prstGeom prst="roundRect">
            <a:avLst>
              <a:gd name="adj" fmla="val 5172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0208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533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60604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+ call mode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081528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"talk to an AI therapist" in 20 languages. Reviewers call it a genuinely novel interaction no competitor has fully replicated.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9584" cy="2121408"/>
          </a:xfrm>
          <a:prstGeom prst="roundRect">
            <a:avLst>
              <a:gd name="adj" fmla="val 5172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0208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533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60604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growth insights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3081528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recap of themes, wins, and emotional landscape — a retention anchor people come back for.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105656"/>
            <a:ext cx="3529584" cy="2121408"/>
          </a:xfrm>
          <a:prstGeom prst="roundRect">
            <a:avLst>
              <a:gd name="adj" fmla="val 5172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343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533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928616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&amp; accountability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5404104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goal + habit tracker with AI-suggested intentions, reminders, and check-ins through the year.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9120" y="4105656"/>
            <a:ext cx="3529584" cy="2121408"/>
          </a:xfrm>
          <a:prstGeom prst="roundRect">
            <a:avLst>
              <a:gd name="adj" fmla="val 5172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4343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5332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4515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645152" y="4928616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"Ask Rosebud"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5404104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Bloom tier, ask the app anything about yourself and pull advanced insights from your own history.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38160" y="4105656"/>
            <a:ext cx="3529584" cy="2121408"/>
          </a:xfrm>
          <a:prstGeom prst="roundRect">
            <a:avLst>
              <a:gd name="adj" fmla="val 5172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343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5332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4928616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Therapist-designed workbooks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5404104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grounded guided programs — ACT, nervous-system rebalancing, relationship dynamics — beyond generic prompts.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103120"/>
            <a:ext cx="5943600" cy="5943600"/>
          </a:xfrm>
          <a:prstGeom prst="ellipse">
            <a:avLst/>
          </a:prstGeom>
          <a:solidFill>
            <a:srgbClr val="3A253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0" y="914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RETAINS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32704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moat is the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3063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 +  long-term memory  +  clinically-grounded content. No single competitor matches all three at once.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0" y="4114800"/>
            <a:ext cx="5852160" cy="2011680"/>
          </a:xfrm>
          <a:prstGeom prst="roundRect">
            <a:avLst>
              <a:gd name="adj" fmla="val 5455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0" y="434340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“Surfacing a behavioral pattern from three months ago that connects to what you're writing about today.”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54406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cross-time memory is the bar every newer app is measured against.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-1371600" y="44805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3A253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468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2834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fault lines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anecdotal friction that sends Rosebud users looking for alternatives — and where Spilr should aim.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paywall &amp; the cap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230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Your journal trains their AI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6144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AI decays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9984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One format, one screen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LINE 1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44200" y="457200"/>
            <a:ext cx="822960" cy="822960"/>
          </a:xfrm>
          <a:prstGeom prst="ellipse">
            <a:avLst/>
          </a:prstGeom>
          <a:solidFill>
            <a:srgbClr val="3A253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44200" y="4480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822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paywall stops you mid-thought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a journal must never do — a hard stop while you are writing.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0908792" cy="768096"/>
          </a:xfrm>
          <a:prstGeom prst="roundRect">
            <a:avLst>
              <a:gd name="adj" fmla="val 14286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944368"/>
            <a:ext cx="109728" cy="10972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07008" y="26243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AI cap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624328"/>
            <a:ext cx="7068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Rosebud limits AI interactions per day. Mid-session, users hit a popup telling them to "come back tomorrow" — momentum broken at the worst moment.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10908792" cy="768096"/>
          </a:xfrm>
          <a:prstGeom prst="roundRect">
            <a:avLst>
              <a:gd name="adj" fmla="val 14286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840480"/>
            <a:ext cx="109728" cy="10972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07008" y="3520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Steep price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520440"/>
            <a:ext cx="7068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$12.99 / month ($107.99 / year) for Bloom — among the most expensive journaling apps on the market.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98264"/>
            <a:ext cx="10908792" cy="768096"/>
          </a:xfrm>
          <a:prstGeom prst="roundRect">
            <a:avLst>
              <a:gd name="adj" fmla="val 14286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736592"/>
            <a:ext cx="109728" cy="10972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44165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tier is a demo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416552"/>
            <a:ext cx="7068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entries/week and long-term memory locked away — the single most valuable feature is behind the paywall, so patterns never kick in for free users.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806440"/>
            <a:ext cx="10908792" cy="713232"/>
          </a:xfrm>
          <a:prstGeom prst="roundRect">
            <a:avLst>
              <a:gd name="adj" fmla="val 15385"/>
            </a:avLst>
          </a:prstGeom>
          <a:solidFill>
            <a:srgbClr val="3A2E22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9618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580644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journaling app that interrupts you mid-thought contradicts its own "safe space" promise. Spilr never blocks — local-first, no cap.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LINE 2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44200" y="457200"/>
            <a:ext cx="822960" cy="822960"/>
          </a:xfrm>
          <a:prstGeom prst="ellipse">
            <a:avLst/>
          </a:prstGeom>
          <a:solidFill>
            <a:srgbClr val="3A253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44200" y="4480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822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journal trains their AI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intimate data a person owns — with a training clause and no off switch.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10908792" cy="640080"/>
          </a:xfrm>
          <a:prstGeom prst="roundRect">
            <a:avLst>
              <a:gd name="adj" fmla="val 17143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670048"/>
            <a:ext cx="109728" cy="10972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07008" y="241401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is permitted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414016"/>
            <a:ext cx="7068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Terms of Service explicitly allow anonymized / de-identified journal data to be used for AI model training.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63824"/>
            <a:ext cx="10908792" cy="640080"/>
          </a:xfrm>
          <a:prstGeom prst="roundRect">
            <a:avLst>
              <a:gd name="adj" fmla="val 17143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438144"/>
            <a:ext cx="109728" cy="10972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07008" y="318211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third-party licensing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182112"/>
            <a:ext cx="7068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same clause permits third-party licensing of the aggregated data.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08792" cy="640080"/>
          </a:xfrm>
          <a:prstGeom prst="roundRect">
            <a:avLst>
              <a:gd name="adj" fmla="val 17143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206240"/>
            <a:ext cx="109728" cy="10972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395020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opt-out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950208"/>
            <a:ext cx="7068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currently no way to opt out. For entries about trauma, relationships, and mental health, that gives people genuine pause.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00016"/>
            <a:ext cx="10908792" cy="640080"/>
          </a:xfrm>
          <a:prstGeom prst="roundRect">
            <a:avLst>
              <a:gd name="adj" fmla="val 17143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974336"/>
            <a:ext cx="109728" cy="10972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07008" y="471830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by default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718304"/>
            <a:ext cx="7068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encrypted in transit and at rest, but stored on Rosebud's cloud (Firestore) — the concern is the policy, not the transport.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806440"/>
            <a:ext cx="10908792" cy="713232"/>
          </a:xfrm>
          <a:prstGeom prst="roundRect">
            <a:avLst>
              <a:gd name="adj" fmla="val 15385"/>
            </a:avLst>
          </a:prstGeom>
          <a:solidFill>
            <a:srgbClr val="3A2E22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59618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148840" y="580644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clearest wedge. Spilr encrypts entries on-device (AES-GCM); the server reasons over structured signals only; nothing trains a model.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LINE 3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44200" y="457200"/>
            <a:ext cx="822960" cy="822960"/>
          </a:xfrm>
          <a:prstGeom prst="ellipse">
            <a:avLst/>
          </a:prstGeom>
          <a:solidFill>
            <a:srgbClr val="3A253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44200" y="4480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822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decays into a horoscope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and agreeable is easy. Staying specific over months is the hard part — and Rosebud drifts.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10908792" cy="640080"/>
          </a:xfrm>
          <a:prstGeom prst="roundRect">
            <a:avLst>
              <a:gd name="adj" fmla="val 17143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670048"/>
            <a:ext cx="109728" cy="10972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07008" y="241401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Goes generic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414016"/>
            <a:ext cx="7068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report responses becoming repetitive or generic after months of use — the novelty of "it gets me" wears off.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63824"/>
            <a:ext cx="10908792" cy="640080"/>
          </a:xfrm>
          <a:prstGeom prst="roundRect">
            <a:avLst>
              <a:gd name="adj" fmla="val 17143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438144"/>
            <a:ext cx="109728" cy="10972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07008" y="318211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slips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182112"/>
            <a:ext cx="7068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forgets previously discussed topics, asks repeat questions, and has weak chronological awareness.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08792" cy="640080"/>
          </a:xfrm>
          <a:prstGeom prst="roundRect">
            <a:avLst>
              <a:gd name="adj" fmla="val 17143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206240"/>
            <a:ext cx="109728" cy="10972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395020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Over-validation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950208"/>
            <a:ext cx="7068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Rosebud's own docs admit it may "create information that seems to support your thoughts / validate your feelings." One user: "I don't need AI that will only validate me."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00016"/>
            <a:ext cx="10908792" cy="640080"/>
          </a:xfrm>
          <a:prstGeom prst="roundRect">
            <a:avLst>
              <a:gd name="adj" fmla="val 17143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974336"/>
            <a:ext cx="109728" cy="10972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07008" y="471830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Shallow follow-ups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718304"/>
            <a:ext cx="7068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30% of AI follow-up questions land as surface-level rather than insightful.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806440"/>
            <a:ext cx="10908792" cy="713232"/>
          </a:xfrm>
          <a:prstGeom prst="roundRect">
            <a:avLst>
              <a:gd name="adj" fmla="val 15385"/>
            </a:avLst>
          </a:prstGeom>
          <a:solidFill>
            <a:srgbClr val="3A2E22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59618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148840" y="580644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Spilr is engineered against exactly this: "never restate — add the layer they didn't write," banned-label lint, counter-evidence, and "silence beats a bad guess."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LINE 4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44200" y="457200"/>
            <a:ext cx="822960" cy="822960"/>
          </a:xfrm>
          <a:prstGeom prst="ellipse">
            <a:avLst/>
          </a:prstGeom>
          <a:solidFill>
            <a:srgbClr val="3A253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44200" y="4480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822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format, one screen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everyone wants a conversation. Sometimes you just need the page.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0908792" cy="768096"/>
          </a:xfrm>
          <a:prstGeom prst="roundRect">
            <a:avLst>
              <a:gd name="adj" fmla="val 14286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944368"/>
            <a:ext cx="109728" cy="10972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07008" y="26243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Chat-only by design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624328"/>
            <a:ext cx="7068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free-form, blank-page, or long-form uninterrupted writing — the conversational format is the only way in.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10908792" cy="768096"/>
          </a:xfrm>
          <a:prstGeom prst="roundRect">
            <a:avLst>
              <a:gd name="adj" fmla="val 14286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840480"/>
            <a:ext cx="109728" cy="10972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07008" y="3520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fatigue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520440"/>
            <a:ext cx="7068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 many questions, too deep too fast" for some users — reflection starts to feel like therapy homework.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98264"/>
            <a:ext cx="10908792" cy="768096"/>
          </a:xfrm>
          <a:prstGeom prst="roundRect">
            <a:avLst>
              <a:gd name="adj" fmla="val 14286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736592"/>
            <a:ext cx="109728" cy="109728"/>
          </a:xfrm>
          <a:prstGeom prst="ellipse">
            <a:avLst/>
          </a:prstGeom>
          <a:solidFill>
            <a:srgbClr val="E8637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44165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is second-class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416552"/>
            <a:ext cx="7068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available on mobile don't all work on web, creating a degraded experience for desktop users.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806440"/>
            <a:ext cx="10908792" cy="713232"/>
          </a:xfrm>
          <a:prstGeom prst="roundRect">
            <a:avLst>
              <a:gd name="adj" fmla="val 15385"/>
            </a:avLst>
          </a:prstGeom>
          <a:solidFill>
            <a:srgbClr val="3A2E22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9618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580644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Spilr offers the blank page, a 90-second timed session, and chat — the user picks the depth. No forced dialogue, no homework.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TEARDOWN, SUMMARIZED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Friction scorecard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Rosebud fault line already has a Spilr answer built into the architecture.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286000" cy="603504"/>
          </a:xfrm>
          <a:prstGeom prst="rect">
            <a:avLst/>
          </a:prstGeom>
          <a:solidFill>
            <a:srgbClr val="342A45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965960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spc="150" kern="0" dirty="0">
                <a:solidFill>
                  <a:srgbClr val="F2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line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26080" y="1965960"/>
            <a:ext cx="3657600" cy="603504"/>
          </a:xfrm>
          <a:prstGeom prst="rect">
            <a:avLst/>
          </a:prstGeom>
          <a:solidFill>
            <a:srgbClr val="342A45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90672" y="1965960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spc="150" kern="0" dirty="0">
                <a:solidFill>
                  <a:srgbClr val="F2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0" y="1965960"/>
            <a:ext cx="4965192" cy="603504"/>
          </a:xfrm>
          <a:prstGeom prst="rect">
            <a:avLst/>
          </a:prstGeom>
          <a:solidFill>
            <a:srgbClr val="342A45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48272" y="1965960"/>
            <a:ext cx="4654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spc="150" kern="0" dirty="0">
                <a:solidFill>
                  <a:srgbClr val="F2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Spilr’s counter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569464"/>
            <a:ext cx="2286000" cy="603504"/>
          </a:xfrm>
          <a:prstGeom prst="rect">
            <a:avLst/>
          </a:prstGeom>
          <a:solidFill>
            <a:srgbClr val="241C31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569464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cap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926080" y="2569464"/>
            <a:ext cx="3657600" cy="603504"/>
          </a:xfrm>
          <a:prstGeom prst="rect">
            <a:avLst/>
          </a:prstGeom>
          <a:solidFill>
            <a:srgbClr val="241C31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90672" y="256946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mid-thought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2569464"/>
            <a:ext cx="4965192" cy="603504"/>
          </a:xfrm>
          <a:prstGeom prst="rect">
            <a:avLst/>
          </a:prstGeom>
          <a:solidFill>
            <a:srgbClr val="241C31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48272" y="2569464"/>
            <a:ext cx="4654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 — local-first, never blocks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172968"/>
            <a:ext cx="2286000" cy="603504"/>
          </a:xfrm>
          <a:prstGeom prst="rect">
            <a:avLst/>
          </a:prstGeom>
          <a:solidFill>
            <a:srgbClr val="2A2138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3172968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training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926080" y="3172968"/>
            <a:ext cx="3657600" cy="603504"/>
          </a:xfrm>
          <a:prstGeom prst="rect">
            <a:avLst/>
          </a:prstGeom>
          <a:solidFill>
            <a:srgbClr val="2A2138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90672" y="317296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data, no opt-out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3172968"/>
            <a:ext cx="4965192" cy="603504"/>
          </a:xfrm>
          <a:prstGeom prst="rect">
            <a:avLst/>
          </a:prstGeom>
          <a:solidFill>
            <a:srgbClr val="2A2138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48272" y="3172968"/>
            <a:ext cx="4654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AES-GCM; server sees signals only; no training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2286000" cy="603504"/>
          </a:xfrm>
          <a:prstGeom prst="rect">
            <a:avLst/>
          </a:prstGeom>
          <a:solidFill>
            <a:srgbClr val="241C31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3776472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decay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926080" y="3776472"/>
            <a:ext cx="3657600" cy="603504"/>
          </a:xfrm>
          <a:prstGeom prst="rect">
            <a:avLst/>
          </a:prstGeom>
          <a:solidFill>
            <a:srgbClr val="241C31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90672" y="3776472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repetitive, forgetful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3776472"/>
            <a:ext cx="4965192" cy="603504"/>
          </a:xfrm>
          <a:prstGeom prst="rect">
            <a:avLst/>
          </a:prstGeom>
          <a:solidFill>
            <a:srgbClr val="241C31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48272" y="3776472"/>
            <a:ext cx="4654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Anti-generic engine + correctable, evidence-backed Self Model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379976"/>
            <a:ext cx="2286000" cy="603504"/>
          </a:xfrm>
          <a:prstGeom prst="rect">
            <a:avLst/>
          </a:prstGeom>
          <a:solidFill>
            <a:srgbClr val="2A2138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" y="4379976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Over-validation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926080" y="4379976"/>
            <a:ext cx="3657600" cy="603504"/>
          </a:xfrm>
          <a:prstGeom prst="rect">
            <a:avLst/>
          </a:prstGeom>
          <a:solidFill>
            <a:srgbClr val="2A2138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90672" y="437997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tells you what you want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83680" y="4379976"/>
            <a:ext cx="4965192" cy="603504"/>
          </a:xfrm>
          <a:prstGeom prst="rect">
            <a:avLst/>
          </a:prstGeom>
          <a:solidFill>
            <a:srgbClr val="2A2138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48272" y="4379976"/>
            <a:ext cx="4654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"Silence beats a bad guess" — names it only when your words do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83480"/>
            <a:ext cx="2286000" cy="603504"/>
          </a:xfrm>
          <a:prstGeom prst="rect">
            <a:avLst/>
          </a:prstGeom>
          <a:solidFill>
            <a:srgbClr val="241C31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" y="4983480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rigidity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926080" y="4983480"/>
            <a:ext cx="3657600" cy="603504"/>
          </a:xfrm>
          <a:prstGeom prst="rect">
            <a:avLst/>
          </a:prstGeom>
          <a:solidFill>
            <a:srgbClr val="241C31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090672" y="4983480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Chat-only, homework fatigue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583680" y="4983480"/>
            <a:ext cx="4965192" cy="603504"/>
          </a:xfrm>
          <a:prstGeom prst="rect">
            <a:avLst/>
          </a:prstGeom>
          <a:solidFill>
            <a:srgbClr val="241C31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48272" y="4983480"/>
            <a:ext cx="4654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page + 90s + chat — your choice of depth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0080" y="5586984"/>
            <a:ext cx="2286000" cy="603504"/>
          </a:xfrm>
          <a:prstGeom prst="rect">
            <a:avLst/>
          </a:prstGeom>
          <a:solidFill>
            <a:srgbClr val="2A2138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4672" y="5586984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free tier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2926080" y="5586984"/>
            <a:ext cx="3657600" cy="603504"/>
          </a:xfrm>
          <a:prstGeom prst="rect">
            <a:avLst/>
          </a:prstGeom>
          <a:solidFill>
            <a:srgbClr val="2A2138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090672" y="55869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$12.99, memory locked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583680" y="5586984"/>
            <a:ext cx="4965192" cy="603504"/>
          </a:xfrm>
          <a:prstGeom prst="rect">
            <a:avLst/>
          </a:prstGeom>
          <a:solidFill>
            <a:srgbClr val="2A2138"/>
          </a:solidFill>
          <a:ln w="6350">
            <a:solidFill>
              <a:srgbClr val="3E345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48272" y="5586984"/>
            <a:ext cx="4654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a genuinely useful, private free tier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THE BUILD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Spilr already beats Rosebud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9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533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80136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moat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801368"/>
            <a:ext cx="7114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AES-GCM encryption; the server reasons over structured signals, never raw text; no model training. Rosebud's training clause has no answer to this.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24328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706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533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64261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hard stops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642616"/>
            <a:ext cx="7114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with real offline fallbacks for every AI feature — it structurally cannot interrupt you to "come back tomorrow."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611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533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48386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Anti-generic engine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483864"/>
            <a:ext cx="7114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restate — add the layer they didn't write," a banned pop-psych-label lint (in app and server), counter-evidence + a disconfirmation pass, and a deterministic absence detector.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306824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4531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533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32511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Correctable Self Model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4325112"/>
            <a:ext cx="7114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carry receipts and confidence-as-words (never a %). "Not me" outranks the AI's inference — a trust mechanic Rosebud lacks.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148072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2943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5332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481328" y="516636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 is still there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5166360"/>
            <a:ext cx="7114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page, 90-second timed session, and chat coexist — no forced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 TO CLOSE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Rosebud still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9584" cy="2121408"/>
          </a:xfrm>
          <a:prstGeom prst="roundRect">
            <a:avLst>
              <a:gd name="adj" fmla="val 5172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39112"/>
            <a:ext cx="457200" cy="457200"/>
          </a:xfrm>
          <a:prstGeom prst="ellipse">
            <a:avLst/>
          </a:prstGeom>
          <a:solidFill>
            <a:srgbClr val="3A253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24328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/ call mode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81528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Spilr has transcription, not a polished hands-free voice conversation across languages.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529584" cy="2121408"/>
          </a:xfrm>
          <a:prstGeom prst="roundRect">
            <a:avLst>
              <a:gd name="adj" fmla="val 5172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039112"/>
            <a:ext cx="457200" cy="457200"/>
          </a:xfrm>
          <a:prstGeom prst="ellipse">
            <a:avLst/>
          </a:prstGeom>
          <a:solidFill>
            <a:srgbClr val="3A253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624328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Legible frameworks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081528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Spilr uses CBT- and IFS-style moves under the hood but never names the value; Rosebud sells clinically-grounded workbooks.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9584" cy="2121408"/>
          </a:xfrm>
          <a:prstGeom prst="roundRect">
            <a:avLst>
              <a:gd name="adj" fmla="val 5172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039112"/>
            <a:ext cx="457200" cy="457200"/>
          </a:xfrm>
          <a:prstGeom prst="ellipse">
            <a:avLst/>
          </a:prstGeom>
          <a:solidFill>
            <a:srgbClr val="3A253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624328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On-demand "Ask"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3081528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Spilr is push-only (one Echo / Read / Mirror). It has no "ask the app about myself" pull affordance.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105656"/>
            <a:ext cx="3529584" cy="2121408"/>
          </a:xfrm>
          <a:prstGeom prst="roundRect">
            <a:avLst>
              <a:gd name="adj" fmla="val 5172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361688"/>
            <a:ext cx="457200" cy="457200"/>
          </a:xfrm>
          <a:prstGeom prst="ellipse">
            <a:avLst/>
          </a:prstGeom>
          <a:solidFill>
            <a:srgbClr val="3A253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946904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Intention follow-through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5404104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Rosebud's goals, reminders, and check-ins drive habit. Spilr is (deliberately) anti-goal and gives up that loop.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9120" y="4105656"/>
            <a:ext cx="3529584" cy="2121408"/>
          </a:xfrm>
          <a:prstGeom prst="roundRect">
            <a:avLst>
              <a:gd name="adj" fmla="val 5172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4361688"/>
            <a:ext cx="457200" cy="457200"/>
          </a:xfrm>
          <a:prstGeom prst="ellipse">
            <a:avLst/>
          </a:prstGeom>
          <a:solidFill>
            <a:srgbClr val="3A253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45152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645152" y="4946904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&amp; proof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5404104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iOS-only vs iOS + Android + web; and $6M + visible social proof behind Rosebud.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38160" y="4105656"/>
            <a:ext cx="3529584" cy="2121408"/>
          </a:xfrm>
          <a:prstGeom prst="roundRect">
            <a:avLst>
              <a:gd name="adj" fmla="val 5172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361688"/>
            <a:ext cx="457200" cy="457200"/>
          </a:xfrm>
          <a:prstGeom prst="ellipse">
            <a:avLst/>
          </a:prstGeom>
          <a:solidFill>
            <a:srgbClr val="3A253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4946904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depth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5404104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Rosebud runs frontier models; Spilr's live chat rides a small, cheap model that needs heavy prompting to behave.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Spilr needs to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9584" cy="4480560"/>
          </a:xfrm>
          <a:prstGeom prst="roundRect">
            <a:avLst>
              <a:gd name="adj" fmla="val 3109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713232" cy="713232"/>
          </a:xfrm>
          <a:prstGeom prst="ellipse">
            <a:avLst/>
          </a:prstGeom>
          <a:solidFill>
            <a:srgbClr val="3A2E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0253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9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55648" y="2048256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Sharpen the wedge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55648" y="24871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71800"/>
            <a:ext cx="29992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the privacy moat + "never interrupts" as headline promises.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surface sprawl (Patterns / Mirror / Self Model / Echoes / Read) into one clear mental model.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crisis resources (currently US-988 only).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AI-consent + depth toggles real and visible.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529584" cy="4480560"/>
          </a:xfrm>
          <a:prstGeom prst="roundRect">
            <a:avLst>
              <a:gd name="adj" fmla="val 3109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11680"/>
            <a:ext cx="713232" cy="713232"/>
          </a:xfrm>
          <a:prstGeom prst="ellipse">
            <a:avLst/>
          </a:prstGeom>
          <a:solidFill>
            <a:srgbClr val="3A253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200253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3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504688" y="2048256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top gaps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504688" y="24871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971800"/>
            <a:ext cx="29992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polished Voice / Call mode (SpeechManager already exists).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on-demand "Ask your Mirror" over the Self Model + memory digest.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frameworks — a light, evidence-backed "lens" / program layer, not homework.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529584" cy="4480560"/>
          </a:xfrm>
          <a:prstGeom prst="roundRect">
            <a:avLst>
              <a:gd name="adj" fmla="val 3109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011680"/>
            <a:ext cx="713232" cy="713232"/>
          </a:xfrm>
          <a:prstGeom prst="ellipse">
            <a:avLst/>
          </a:prstGeom>
          <a:solidFill>
            <a:srgbClr val="2533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200253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53728" y="2048256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bets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253728" y="24871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971800"/>
            <a:ext cx="29992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model: keep Lite for silent enrichment, a stronger model for live chat.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"gentle intentions" follow-through loop that isn't gamification.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Android reach to erase the platform gap.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3A2E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what Rosebud can't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50" i="1" dirty="0">
                <a:solidFill>
                  <a:srgbClr val="B9AE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Rosebud is a warm AI companion that keeps you talking. Spilr is the private journal that reads you</a:t>
            </a:r>
            <a:endParaRPr lang="en-US" sz="1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50" i="1" dirty="0">
                <a:solidFill>
                  <a:srgbClr val="B9AE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precisely — and would rather say nothing than say something generic.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3529584" cy="1783080"/>
          </a:xfrm>
          <a:prstGeom prst="roundRect">
            <a:avLst>
              <a:gd name="adj" fmla="val 6154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401568"/>
            <a:ext cx="566928" cy="566928"/>
          </a:xfrm>
          <a:prstGeom prst="ellipse">
            <a:avLst/>
          </a:prstGeom>
          <a:solidFill>
            <a:srgbClr val="3A2E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392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9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1480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architecture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553712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policy. Encryption on-device; nothing trains a model.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529584" cy="1783080"/>
          </a:xfrm>
          <a:prstGeom prst="roundRect">
            <a:avLst>
              <a:gd name="adj" fmla="val 6154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3401568"/>
            <a:ext cx="566928" cy="566928"/>
          </a:xfrm>
          <a:prstGeom prst="ellipse">
            <a:avLst/>
          </a:prstGeom>
          <a:solidFill>
            <a:srgbClr val="3A2E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3392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9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11480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interrupts you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553712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caps, no "come back tomorrow." The page is always open.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3154680"/>
            <a:ext cx="3529584" cy="1783080"/>
          </a:xfrm>
          <a:prstGeom prst="roundRect">
            <a:avLst>
              <a:gd name="adj" fmla="val 6154"/>
            </a:avLst>
          </a:prstGeom>
          <a:solidFill>
            <a:srgbClr val="2A21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3401568"/>
            <a:ext cx="566928" cy="566928"/>
          </a:xfrm>
          <a:prstGeom prst="ellipse">
            <a:avLst/>
          </a:prstGeom>
          <a:solidFill>
            <a:srgbClr val="3A2E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3392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9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11480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about you — correctable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553712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evidence-backed, and it defers to you when it's wrong.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10908792" cy="960120"/>
          </a:xfrm>
          <a:prstGeom prst="roundRect">
            <a:avLst>
              <a:gd name="adj" fmla="val 11429"/>
            </a:avLst>
          </a:prstGeom>
          <a:solidFill>
            <a:srgbClr val="342A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14400" y="54132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148840" y="5212080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2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disaffected Rosebud user: privacy-wary, cap-frustrated, tired of validation theater — and sometimes they just want the page.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4592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Note — 7 Best Rosebud Journal Alternatives in 2026 (usage cap, pricing, data-training, format, memory imperfections, funding)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Company — Rosebud is a new journaling app enhanced with AI (models: GPT / Claude, prompt-engineering)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TechCrunch — Rosebud lands $6M to scale its interactive AI journaling app (Bessemer; Ohanian; Ferriss)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Rosebud Knowledge Base — Voice journaling, AI Personalization, Terms of Service, Rosebud's Limitations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Reflection.app / Mindsera comparisons; Summer Engine — Rosebud pricing &amp; free-tier limits (2026)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&amp; Trustpilot reviews; Bustle — Rosebud therapy app review; user quotes on over-validation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9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Spilr / ninety codebase — CLAUDE.md, PRDs, SpilrVoice.swift, functions/index.js, EntryEncryption.swift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7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Rosebud figures reflect reporting as of March–Sept 2026 and self-reported vendor metrics; treat wellness numbers as directional.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2026-09-02T22:42:31Z</dcterms:created>
  <dcterms:modified xsi:type="dcterms:W3CDTF">2026-09-02T22:42:31Z</dcterms:modified>
</cp:coreProperties>
</file>